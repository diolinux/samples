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06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ADE58-1938-49B6-AAA2-0569725640B0}" type="datetimeFigureOut">
              <a:rPr lang="pt-BR" smtClean="0"/>
              <a:t>11/06/2010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E5D1F-7F7D-4F7A-91F1-ACCEF1AD683F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ADE58-1938-49B6-AAA2-0569725640B0}" type="datetimeFigureOut">
              <a:rPr lang="pt-BR" smtClean="0"/>
              <a:t>11/06/2010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E5D1F-7F7D-4F7A-91F1-ACCEF1AD683F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ADE58-1938-49B6-AAA2-0569725640B0}" type="datetimeFigureOut">
              <a:rPr lang="pt-BR" smtClean="0"/>
              <a:t>11/06/2010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E5D1F-7F7D-4F7A-91F1-ACCEF1AD683F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ADE58-1938-49B6-AAA2-0569725640B0}" type="datetimeFigureOut">
              <a:rPr lang="pt-BR" smtClean="0"/>
              <a:t>11/06/2010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E5D1F-7F7D-4F7A-91F1-ACCEF1AD683F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ADE58-1938-49B6-AAA2-0569725640B0}" type="datetimeFigureOut">
              <a:rPr lang="pt-BR" smtClean="0"/>
              <a:t>11/06/2010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E5D1F-7F7D-4F7A-91F1-ACCEF1AD683F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ADE58-1938-49B6-AAA2-0569725640B0}" type="datetimeFigureOut">
              <a:rPr lang="pt-BR" smtClean="0"/>
              <a:t>11/06/2010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E5D1F-7F7D-4F7A-91F1-ACCEF1AD683F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ADE58-1938-49B6-AAA2-0569725640B0}" type="datetimeFigureOut">
              <a:rPr lang="pt-BR" smtClean="0"/>
              <a:t>11/06/2010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E5D1F-7F7D-4F7A-91F1-ACCEF1AD683F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ADE58-1938-49B6-AAA2-0569725640B0}" type="datetimeFigureOut">
              <a:rPr lang="pt-BR" smtClean="0"/>
              <a:t>11/06/2010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E5D1F-7F7D-4F7A-91F1-ACCEF1AD683F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ADE58-1938-49B6-AAA2-0569725640B0}" type="datetimeFigureOut">
              <a:rPr lang="pt-BR" smtClean="0"/>
              <a:t>11/06/2010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E5D1F-7F7D-4F7A-91F1-ACCEF1AD683F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ADE58-1938-49B6-AAA2-0569725640B0}" type="datetimeFigureOut">
              <a:rPr lang="pt-BR" smtClean="0"/>
              <a:t>11/06/2010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E5D1F-7F7D-4F7A-91F1-ACCEF1AD683F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ADE58-1938-49B6-AAA2-0569725640B0}" type="datetimeFigureOut">
              <a:rPr lang="pt-BR" smtClean="0"/>
              <a:t>11/06/2010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E5D1F-7F7D-4F7A-91F1-ACCEF1AD683F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BADE58-1938-49B6-AAA2-0569725640B0}" type="datetimeFigureOut">
              <a:rPr lang="pt-BR" smtClean="0"/>
              <a:t>11/06/2010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3E5D1F-7F7D-4F7A-91F1-ACCEF1AD683F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0" y="2571744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 dirty="0" smtClean="0">
                <a:solidFill>
                  <a:srgbClr val="C00000"/>
                </a:solidFill>
              </a:rPr>
              <a:t>Liderar para Crescer!</a:t>
            </a:r>
            <a:endParaRPr lang="pt-BR" sz="7200" b="1" dirty="0">
              <a:solidFill>
                <a:srgbClr val="C00000"/>
              </a:solidFill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0" y="3786190"/>
            <a:ext cx="6143636" cy="2857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2214546" y="4071942"/>
            <a:ext cx="6929454" cy="28575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riângulo isósceles 12"/>
          <p:cNvSpPr/>
          <p:nvPr/>
        </p:nvSpPr>
        <p:spPr>
          <a:xfrm rot="10800000">
            <a:off x="5500694" y="2857496"/>
            <a:ext cx="2286016" cy="2071702"/>
          </a:xfrm>
          <a:prstGeom prst="triangle">
            <a:avLst/>
          </a:prstGeom>
          <a:solidFill>
            <a:srgbClr val="00B050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Triângulo isósceles 11"/>
          <p:cNvSpPr/>
          <p:nvPr/>
        </p:nvSpPr>
        <p:spPr>
          <a:xfrm rot="10800000">
            <a:off x="928662" y="2857496"/>
            <a:ext cx="2286016" cy="2071702"/>
          </a:xfrm>
          <a:prstGeom prst="triangle">
            <a:avLst/>
          </a:prstGeom>
          <a:solidFill>
            <a:srgbClr val="FF0000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/>
          <p:cNvSpPr txBox="1"/>
          <p:nvPr/>
        </p:nvSpPr>
        <p:spPr>
          <a:xfrm>
            <a:off x="714348" y="785794"/>
            <a:ext cx="70009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 smtClean="0"/>
              <a:t>QUEBRA DE PARADIGMAS</a:t>
            </a:r>
            <a:endParaRPr lang="pt-BR" sz="2800" b="1" dirty="0"/>
          </a:p>
        </p:txBody>
      </p:sp>
      <p:sp>
        <p:nvSpPr>
          <p:cNvPr id="5" name="CaixaDeTexto 4"/>
          <p:cNvSpPr txBox="1"/>
          <p:nvPr/>
        </p:nvSpPr>
        <p:spPr>
          <a:xfrm>
            <a:off x="1142976" y="1428736"/>
            <a:ext cx="7143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i="1" dirty="0" smtClean="0"/>
              <a:t>Modelo, padrão, protótipo (dicionário Michaelis)</a:t>
            </a:r>
            <a:endParaRPr lang="pt-BR" sz="2000" i="1" dirty="0"/>
          </a:p>
        </p:txBody>
      </p:sp>
      <p:sp>
        <p:nvSpPr>
          <p:cNvPr id="6" name="CaixaDeTexto 5"/>
          <p:cNvSpPr txBox="1"/>
          <p:nvPr/>
        </p:nvSpPr>
        <p:spPr>
          <a:xfrm>
            <a:off x="428596" y="2961971"/>
            <a:ext cx="364333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pt-BR" sz="2400" dirty="0" smtClean="0"/>
              <a:t>Administração centralizada</a:t>
            </a:r>
          </a:p>
          <a:p>
            <a:pPr>
              <a:buFont typeface="Arial" pitchFamily="34" charset="0"/>
              <a:buChar char="•"/>
            </a:pPr>
            <a:r>
              <a:rPr lang="pt-BR" sz="2400" dirty="0" smtClean="0"/>
              <a:t>Gerenciamento</a:t>
            </a:r>
          </a:p>
          <a:p>
            <a:pPr>
              <a:buFont typeface="Arial" pitchFamily="34" charset="0"/>
              <a:buChar char="•"/>
            </a:pPr>
            <a:r>
              <a:rPr lang="pt-BR" sz="2400" dirty="0" smtClean="0"/>
              <a:t>Apego a um modelo</a:t>
            </a:r>
          </a:p>
          <a:p>
            <a:pPr>
              <a:buFont typeface="Arial" pitchFamily="34" charset="0"/>
              <a:buChar char="•"/>
            </a:pPr>
            <a:r>
              <a:rPr lang="pt-BR" sz="2400" dirty="0" smtClean="0"/>
              <a:t>Evitar e temer mudanças</a:t>
            </a:r>
          </a:p>
          <a:p>
            <a:pPr>
              <a:buFont typeface="Arial" pitchFamily="34" charset="0"/>
              <a:buChar char="•"/>
            </a:pPr>
            <a:r>
              <a:rPr lang="pt-BR" sz="2400" dirty="0" smtClean="0"/>
              <a:t>Está razoável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4786314" y="2951805"/>
            <a:ext cx="407196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pt-BR" sz="2400" dirty="0" smtClean="0"/>
              <a:t>Administração descentralizada</a:t>
            </a:r>
          </a:p>
          <a:p>
            <a:pPr>
              <a:buFont typeface="Arial" pitchFamily="34" charset="0"/>
              <a:buChar char="•"/>
            </a:pPr>
            <a:r>
              <a:rPr lang="pt-BR" sz="2400" dirty="0" smtClean="0"/>
              <a:t>Liderança</a:t>
            </a:r>
          </a:p>
          <a:p>
            <a:pPr>
              <a:buFont typeface="Arial" pitchFamily="34" charset="0"/>
              <a:buChar char="•"/>
            </a:pPr>
            <a:r>
              <a:rPr lang="pt-BR" sz="2400" dirty="0" smtClean="0"/>
              <a:t>Melhoria Contínua</a:t>
            </a:r>
          </a:p>
          <a:p>
            <a:pPr>
              <a:buFont typeface="Arial" pitchFamily="34" charset="0"/>
              <a:buChar char="•"/>
            </a:pPr>
            <a:r>
              <a:rPr lang="pt-BR" sz="2400" dirty="0" smtClean="0"/>
              <a:t>A mudança é uma constante</a:t>
            </a:r>
          </a:p>
          <a:p>
            <a:pPr>
              <a:buFont typeface="Arial" pitchFamily="34" charset="0"/>
              <a:buChar char="•"/>
            </a:pPr>
            <a:r>
              <a:rPr lang="pt-BR" sz="2400" dirty="0" smtClean="0"/>
              <a:t>Defeito zero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642910" y="2390467"/>
            <a:ext cx="30718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 smtClean="0"/>
              <a:t>VELHO PARADIGMA</a:t>
            </a:r>
            <a:endParaRPr lang="pt-BR" sz="2400" b="1" dirty="0"/>
          </a:p>
        </p:txBody>
      </p:sp>
      <p:sp>
        <p:nvSpPr>
          <p:cNvPr id="9" name="CaixaDeTexto 8"/>
          <p:cNvSpPr txBox="1"/>
          <p:nvPr/>
        </p:nvSpPr>
        <p:spPr>
          <a:xfrm>
            <a:off x="5214942" y="2357430"/>
            <a:ext cx="30718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 smtClean="0"/>
              <a:t>NOVO PARADIGMA</a:t>
            </a:r>
            <a:endParaRPr lang="pt-BR" sz="2400" b="1" dirty="0"/>
          </a:p>
        </p:txBody>
      </p:sp>
      <p:sp>
        <p:nvSpPr>
          <p:cNvPr id="10" name="CaixaDeTexto 9"/>
          <p:cNvSpPr txBox="1"/>
          <p:nvPr/>
        </p:nvSpPr>
        <p:spPr>
          <a:xfrm>
            <a:off x="642910" y="5500702"/>
            <a:ext cx="79296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i="1" dirty="0" smtClean="0"/>
              <a:t>“O homem sensato se adapta ao mundo; o insensato persiste em tentar adaptar o mundo a si mesmo; portanto, todo o progresso depende do home insensato.”</a:t>
            </a:r>
            <a:endParaRPr lang="pt-BR" sz="2000" i="1" dirty="0"/>
          </a:p>
        </p:txBody>
      </p:sp>
      <p:sp>
        <p:nvSpPr>
          <p:cNvPr id="11" name="CaixaDeTexto 10"/>
          <p:cNvSpPr txBox="1"/>
          <p:nvPr/>
        </p:nvSpPr>
        <p:spPr>
          <a:xfrm>
            <a:off x="5786446" y="6143644"/>
            <a:ext cx="2786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(George Bernard Shaw)</a:t>
            </a:r>
            <a:endParaRPr lang="pt-BR" dirty="0"/>
          </a:p>
        </p:txBody>
      </p:sp>
      <p:sp>
        <p:nvSpPr>
          <p:cNvPr id="14" name="Retângulo de cantos arredondados 13"/>
          <p:cNvSpPr/>
          <p:nvPr/>
        </p:nvSpPr>
        <p:spPr>
          <a:xfrm>
            <a:off x="714348" y="1214422"/>
            <a:ext cx="6215106" cy="714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lipse 20"/>
          <p:cNvSpPr/>
          <p:nvPr/>
        </p:nvSpPr>
        <p:spPr>
          <a:xfrm>
            <a:off x="1928794" y="71438"/>
            <a:ext cx="5143536" cy="1000108"/>
          </a:xfrm>
          <a:prstGeom prst="ellipse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/>
          <p:cNvSpPr txBox="1"/>
          <p:nvPr/>
        </p:nvSpPr>
        <p:spPr>
          <a:xfrm>
            <a:off x="785786" y="214290"/>
            <a:ext cx="73581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 smtClean="0">
                <a:solidFill>
                  <a:schemeClr val="bg1"/>
                </a:solidFill>
              </a:rPr>
              <a:t>O LÍDER DE ONTEM E HOJE</a:t>
            </a:r>
            <a:endParaRPr lang="pt-BR" sz="3200" b="1" dirty="0">
              <a:solidFill>
                <a:schemeClr val="bg1"/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357158" y="1285860"/>
            <a:ext cx="32147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 smtClean="0"/>
              <a:t>Poder</a:t>
            </a:r>
            <a:endParaRPr lang="pt-BR" sz="3200" b="1" dirty="0"/>
          </a:p>
        </p:txBody>
      </p:sp>
      <p:sp>
        <p:nvSpPr>
          <p:cNvPr id="6" name="CaixaDeTexto 5"/>
          <p:cNvSpPr txBox="1"/>
          <p:nvPr/>
        </p:nvSpPr>
        <p:spPr>
          <a:xfrm>
            <a:off x="5357818" y="1357298"/>
            <a:ext cx="3000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 smtClean="0"/>
              <a:t>Autoridade</a:t>
            </a:r>
            <a:endParaRPr lang="pt-BR" sz="2800" b="1" dirty="0"/>
          </a:p>
        </p:txBody>
      </p:sp>
      <p:sp>
        <p:nvSpPr>
          <p:cNvPr id="7" name="CaixaDeTexto 6"/>
          <p:cNvSpPr txBox="1"/>
          <p:nvPr/>
        </p:nvSpPr>
        <p:spPr>
          <a:xfrm>
            <a:off x="428596" y="3643314"/>
            <a:ext cx="32147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 smtClean="0"/>
              <a:t>Imposição</a:t>
            </a:r>
            <a:endParaRPr lang="pt-BR" sz="3200" dirty="0"/>
          </a:p>
        </p:txBody>
      </p:sp>
      <p:sp>
        <p:nvSpPr>
          <p:cNvPr id="8" name="CaixaDeTexto 7"/>
          <p:cNvSpPr txBox="1"/>
          <p:nvPr/>
        </p:nvSpPr>
        <p:spPr>
          <a:xfrm>
            <a:off x="357158" y="2428868"/>
            <a:ext cx="32147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 smtClean="0"/>
              <a:t>Medo</a:t>
            </a:r>
            <a:endParaRPr lang="pt-BR" sz="3200" dirty="0"/>
          </a:p>
        </p:txBody>
      </p:sp>
      <p:sp>
        <p:nvSpPr>
          <p:cNvPr id="9" name="CaixaDeTexto 8"/>
          <p:cNvSpPr txBox="1"/>
          <p:nvPr/>
        </p:nvSpPr>
        <p:spPr>
          <a:xfrm>
            <a:off x="5214942" y="2428868"/>
            <a:ext cx="32147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 smtClean="0"/>
              <a:t>Respeito</a:t>
            </a:r>
            <a:endParaRPr lang="pt-BR" sz="3200" dirty="0"/>
          </a:p>
        </p:txBody>
      </p:sp>
      <p:sp>
        <p:nvSpPr>
          <p:cNvPr id="10" name="CaixaDeTexto 9"/>
          <p:cNvSpPr txBox="1"/>
          <p:nvPr/>
        </p:nvSpPr>
        <p:spPr>
          <a:xfrm>
            <a:off x="5286380" y="3643314"/>
            <a:ext cx="32147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 smtClean="0"/>
              <a:t>Persuasão</a:t>
            </a:r>
            <a:endParaRPr lang="pt-BR" sz="3200" dirty="0"/>
          </a:p>
        </p:txBody>
      </p:sp>
      <p:sp>
        <p:nvSpPr>
          <p:cNvPr id="11" name="CaixaDeTexto 10"/>
          <p:cNvSpPr txBox="1"/>
          <p:nvPr/>
        </p:nvSpPr>
        <p:spPr>
          <a:xfrm>
            <a:off x="357158" y="4786322"/>
            <a:ext cx="32147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 smtClean="0"/>
              <a:t>Obrigação</a:t>
            </a:r>
            <a:endParaRPr lang="pt-BR" sz="3200" dirty="0"/>
          </a:p>
        </p:txBody>
      </p:sp>
      <p:sp>
        <p:nvSpPr>
          <p:cNvPr id="12" name="CaixaDeTexto 11"/>
          <p:cNvSpPr txBox="1"/>
          <p:nvPr/>
        </p:nvSpPr>
        <p:spPr>
          <a:xfrm>
            <a:off x="5357818" y="4714884"/>
            <a:ext cx="32147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 smtClean="0"/>
              <a:t>Colaboração</a:t>
            </a:r>
            <a:endParaRPr lang="pt-BR" sz="3200" dirty="0"/>
          </a:p>
        </p:txBody>
      </p:sp>
      <p:sp>
        <p:nvSpPr>
          <p:cNvPr id="14" name="CaixaDeTexto 13"/>
          <p:cNvSpPr txBox="1"/>
          <p:nvPr/>
        </p:nvSpPr>
        <p:spPr>
          <a:xfrm>
            <a:off x="428596" y="5857892"/>
            <a:ext cx="82153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i="1" dirty="0" smtClean="0"/>
              <a:t>“Estar no poder é como ser uma dama.</a:t>
            </a:r>
          </a:p>
          <a:p>
            <a:r>
              <a:rPr lang="pt-BR" sz="2000" i="1" dirty="0" smtClean="0"/>
              <a:t>Se tiver que lembrar às pessoas que você é, você não é!” </a:t>
            </a:r>
            <a:r>
              <a:rPr lang="pt-BR" sz="2000" dirty="0" smtClean="0"/>
              <a:t>(Margaret Thatcher)</a:t>
            </a:r>
            <a:endParaRPr lang="pt-BR" sz="2000" i="1" dirty="0"/>
          </a:p>
        </p:txBody>
      </p:sp>
      <p:sp>
        <p:nvSpPr>
          <p:cNvPr id="15" name="Seta para baixo 14"/>
          <p:cNvSpPr/>
          <p:nvPr/>
        </p:nvSpPr>
        <p:spPr>
          <a:xfrm>
            <a:off x="1714480" y="1857364"/>
            <a:ext cx="428628" cy="50006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Seta para baixo 15"/>
          <p:cNvSpPr/>
          <p:nvPr/>
        </p:nvSpPr>
        <p:spPr>
          <a:xfrm>
            <a:off x="1714480" y="3071810"/>
            <a:ext cx="428628" cy="50006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Seta para baixo 16"/>
          <p:cNvSpPr/>
          <p:nvPr/>
        </p:nvSpPr>
        <p:spPr>
          <a:xfrm>
            <a:off x="1714480" y="4286256"/>
            <a:ext cx="428628" cy="50006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Seta para baixo 17"/>
          <p:cNvSpPr/>
          <p:nvPr/>
        </p:nvSpPr>
        <p:spPr>
          <a:xfrm>
            <a:off x="6643702" y="1857364"/>
            <a:ext cx="428628" cy="500066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Seta para baixo 18"/>
          <p:cNvSpPr/>
          <p:nvPr/>
        </p:nvSpPr>
        <p:spPr>
          <a:xfrm>
            <a:off x="6643702" y="3000372"/>
            <a:ext cx="428628" cy="500066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Seta para baixo 19"/>
          <p:cNvSpPr/>
          <p:nvPr/>
        </p:nvSpPr>
        <p:spPr>
          <a:xfrm>
            <a:off x="6643702" y="4286256"/>
            <a:ext cx="428628" cy="500066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uxograma: Processo alternativo 10"/>
          <p:cNvSpPr/>
          <p:nvPr/>
        </p:nvSpPr>
        <p:spPr>
          <a:xfrm>
            <a:off x="500034" y="4143380"/>
            <a:ext cx="8215370" cy="1285884"/>
          </a:xfrm>
          <a:prstGeom prst="flowChartAlternateProcess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Fluxograma: Dados 9"/>
          <p:cNvSpPr/>
          <p:nvPr/>
        </p:nvSpPr>
        <p:spPr>
          <a:xfrm>
            <a:off x="0" y="2214554"/>
            <a:ext cx="9144000" cy="857256"/>
          </a:xfrm>
          <a:prstGeom prst="flowChartInputOutpu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4143372" y="642918"/>
            <a:ext cx="785818" cy="10001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Pentágono 6"/>
          <p:cNvSpPr/>
          <p:nvPr/>
        </p:nvSpPr>
        <p:spPr>
          <a:xfrm>
            <a:off x="2428860" y="785794"/>
            <a:ext cx="2143140" cy="714380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Pentágono 7"/>
          <p:cNvSpPr/>
          <p:nvPr/>
        </p:nvSpPr>
        <p:spPr>
          <a:xfrm rot="10800000">
            <a:off x="4572000" y="785794"/>
            <a:ext cx="2143140" cy="714380"/>
          </a:xfrm>
          <a:prstGeom prst="homePlat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/>
          <p:cNvSpPr txBox="1"/>
          <p:nvPr/>
        </p:nvSpPr>
        <p:spPr>
          <a:xfrm>
            <a:off x="714348" y="4143380"/>
            <a:ext cx="778674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i="1" dirty="0" smtClean="0"/>
              <a:t>“Não tenho necessariamente que gostar de meus jogadores e sócios, mas como líder devo amá-los. O amor é lealdade, o amor é trabalho de equipe, o amor respeita a dignidade e a individualidade. Esta é a força de qualquer organização” </a:t>
            </a:r>
            <a:r>
              <a:rPr lang="pt-BR" sz="2000" dirty="0" smtClean="0"/>
              <a:t>(Vince Lombardi)</a:t>
            </a:r>
            <a:endParaRPr lang="pt-BR" sz="2000" i="1" dirty="0"/>
          </a:p>
        </p:txBody>
      </p:sp>
      <p:sp>
        <p:nvSpPr>
          <p:cNvPr id="5" name="CaixaDeTexto 4"/>
          <p:cNvSpPr txBox="1"/>
          <p:nvPr/>
        </p:nvSpPr>
        <p:spPr>
          <a:xfrm>
            <a:off x="1428728" y="857232"/>
            <a:ext cx="6357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 smtClean="0"/>
              <a:t>LIDERAR COM AMOR</a:t>
            </a:r>
            <a:endParaRPr lang="pt-BR" sz="3200" b="1" dirty="0"/>
          </a:p>
        </p:txBody>
      </p:sp>
      <p:sp>
        <p:nvSpPr>
          <p:cNvPr id="6" name="CaixaDeTexto 5"/>
          <p:cNvSpPr txBox="1"/>
          <p:nvPr/>
        </p:nvSpPr>
        <p:spPr>
          <a:xfrm>
            <a:off x="1285852" y="2285992"/>
            <a:ext cx="66437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i="1" dirty="0" smtClean="0"/>
              <a:t>“Amar não é como você se sente em relação aos outros, mas como se comporta em relação aos outros.” </a:t>
            </a:r>
            <a:r>
              <a:rPr lang="pt-BR" sz="2000" dirty="0" smtClean="0"/>
              <a:t>(James C. Hunter)</a:t>
            </a:r>
            <a:endParaRPr lang="pt-BR" sz="2000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pacienci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226" y="500018"/>
            <a:ext cx="8500900" cy="5929378"/>
          </a:xfrm>
          <a:prstGeom prst="rect">
            <a:avLst/>
          </a:prstGeom>
        </p:spPr>
      </p:pic>
      <p:sp>
        <p:nvSpPr>
          <p:cNvPr id="7" name="Fluxograma: Processo 6"/>
          <p:cNvSpPr/>
          <p:nvPr/>
        </p:nvSpPr>
        <p:spPr>
          <a:xfrm>
            <a:off x="0" y="500042"/>
            <a:ext cx="9144000" cy="642942"/>
          </a:xfrm>
          <a:prstGeom prst="flowChartProcess">
            <a:avLst/>
          </a:prstGeom>
          <a:solidFill>
            <a:schemeClr val="accent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/>
          <p:cNvSpPr txBox="1"/>
          <p:nvPr/>
        </p:nvSpPr>
        <p:spPr>
          <a:xfrm>
            <a:off x="714348" y="571480"/>
            <a:ext cx="34290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/>
              <a:t>Paciência</a:t>
            </a:r>
            <a:endParaRPr lang="pt-BR" sz="3200" b="1" dirty="0"/>
          </a:p>
        </p:txBody>
      </p:sp>
      <p:sp>
        <p:nvSpPr>
          <p:cNvPr id="5" name="CaixaDeTexto 4"/>
          <p:cNvSpPr txBox="1"/>
          <p:nvPr/>
        </p:nvSpPr>
        <p:spPr>
          <a:xfrm>
            <a:off x="1285852" y="1714488"/>
            <a:ext cx="42148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/>
              <a:t>Demonstrar autocontrole</a:t>
            </a:r>
            <a:endParaRPr lang="pt-B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bonda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900" y="508000"/>
            <a:ext cx="4991100" cy="6350000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714348" y="571480"/>
            <a:ext cx="34290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/>
              <a:t>Bondade</a:t>
            </a:r>
            <a:endParaRPr lang="pt-BR" sz="3200" b="1" dirty="0"/>
          </a:p>
        </p:txBody>
      </p:sp>
      <p:sp>
        <p:nvSpPr>
          <p:cNvPr id="5" name="CaixaDeTexto 4"/>
          <p:cNvSpPr txBox="1"/>
          <p:nvPr/>
        </p:nvSpPr>
        <p:spPr>
          <a:xfrm>
            <a:off x="1285852" y="1714488"/>
            <a:ext cx="5643602" cy="523220"/>
          </a:xfrm>
          <a:prstGeom prst="rect">
            <a:avLst/>
          </a:prstGeom>
          <a:solidFill>
            <a:schemeClr val="bg1">
              <a:alpha val="68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2800" dirty="0" smtClean="0"/>
              <a:t>Dar atenção, apreciação e incentivo</a:t>
            </a:r>
            <a:endParaRPr lang="pt-BR" sz="2800" dirty="0"/>
          </a:p>
        </p:txBody>
      </p:sp>
      <p:sp>
        <p:nvSpPr>
          <p:cNvPr id="7" name="Fluxograma: Processo 6"/>
          <p:cNvSpPr/>
          <p:nvPr/>
        </p:nvSpPr>
        <p:spPr>
          <a:xfrm>
            <a:off x="0" y="500042"/>
            <a:ext cx="9144000" cy="642942"/>
          </a:xfrm>
          <a:prstGeom prst="flowChartProcess">
            <a:avLst/>
          </a:prstGeom>
          <a:solidFill>
            <a:schemeClr val="accent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humilda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562" y="1841500"/>
            <a:ext cx="4445000" cy="5016500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714348" y="571480"/>
            <a:ext cx="34290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/>
              <a:t>Humildade</a:t>
            </a:r>
            <a:endParaRPr lang="pt-BR" sz="3200" b="1" dirty="0"/>
          </a:p>
        </p:txBody>
      </p:sp>
      <p:sp>
        <p:nvSpPr>
          <p:cNvPr id="5" name="CaixaDeTexto 4"/>
          <p:cNvSpPr txBox="1"/>
          <p:nvPr/>
        </p:nvSpPr>
        <p:spPr>
          <a:xfrm>
            <a:off x="1214414" y="1500174"/>
            <a:ext cx="6786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/>
              <a:t>Ser autêntico e sem pretensão ou arrogância</a:t>
            </a:r>
            <a:endParaRPr lang="pt-BR" sz="2800" dirty="0"/>
          </a:p>
        </p:txBody>
      </p:sp>
      <p:sp>
        <p:nvSpPr>
          <p:cNvPr id="7" name="Fluxograma: Processo 6"/>
          <p:cNvSpPr/>
          <p:nvPr/>
        </p:nvSpPr>
        <p:spPr>
          <a:xfrm>
            <a:off x="0" y="500042"/>
            <a:ext cx="9144000" cy="642942"/>
          </a:xfrm>
          <a:prstGeom prst="flowChartProcess">
            <a:avLst/>
          </a:prstGeom>
          <a:solidFill>
            <a:schemeClr val="accent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714348" y="571480"/>
            <a:ext cx="34290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/>
              <a:t>Respeito</a:t>
            </a:r>
            <a:endParaRPr lang="pt-BR" sz="3200" b="1" dirty="0"/>
          </a:p>
        </p:txBody>
      </p:sp>
      <p:sp>
        <p:nvSpPr>
          <p:cNvPr id="5" name="CaixaDeTexto 4"/>
          <p:cNvSpPr txBox="1"/>
          <p:nvPr/>
        </p:nvSpPr>
        <p:spPr>
          <a:xfrm>
            <a:off x="1285852" y="1714488"/>
            <a:ext cx="67866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/>
              <a:t>Tratar os outros como pessoas importantes</a:t>
            </a:r>
            <a:endParaRPr lang="pt-BR" sz="2800" dirty="0"/>
          </a:p>
        </p:txBody>
      </p:sp>
      <p:pic>
        <p:nvPicPr>
          <p:cNvPr id="6" name="Imagem 5" descr="respeito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976" y="2264091"/>
            <a:ext cx="6715140" cy="4593909"/>
          </a:xfrm>
          <a:prstGeom prst="rect">
            <a:avLst/>
          </a:prstGeom>
        </p:spPr>
      </p:pic>
      <p:sp>
        <p:nvSpPr>
          <p:cNvPr id="7" name="Fluxograma: Processo 6"/>
          <p:cNvSpPr/>
          <p:nvPr/>
        </p:nvSpPr>
        <p:spPr>
          <a:xfrm>
            <a:off x="0" y="500042"/>
            <a:ext cx="9144000" cy="642942"/>
          </a:xfrm>
          <a:prstGeom prst="flowChartProcess">
            <a:avLst/>
          </a:prstGeom>
          <a:solidFill>
            <a:schemeClr val="accent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abnegaçã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786" y="1643050"/>
            <a:ext cx="7620000" cy="5080000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714348" y="571480"/>
            <a:ext cx="34290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/>
              <a:t>Abnegação</a:t>
            </a:r>
            <a:endParaRPr lang="pt-BR" sz="3200" b="1" dirty="0"/>
          </a:p>
        </p:txBody>
      </p:sp>
      <p:sp>
        <p:nvSpPr>
          <p:cNvPr id="5" name="CaixaDeTexto 4"/>
          <p:cNvSpPr txBox="1"/>
          <p:nvPr/>
        </p:nvSpPr>
        <p:spPr>
          <a:xfrm>
            <a:off x="1285852" y="1714488"/>
            <a:ext cx="6786610" cy="523220"/>
          </a:xfrm>
          <a:prstGeom prst="rect">
            <a:avLst/>
          </a:prstGeom>
          <a:solidFill>
            <a:schemeClr val="bg1">
              <a:alpha val="6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2800" b="1" dirty="0" smtClean="0"/>
              <a:t>Satisfazer as necessidades dos outros</a:t>
            </a:r>
            <a:endParaRPr lang="pt-BR" sz="2800" b="1" dirty="0"/>
          </a:p>
        </p:txBody>
      </p:sp>
      <p:sp>
        <p:nvSpPr>
          <p:cNvPr id="7" name="Fluxograma: Processo 6"/>
          <p:cNvSpPr/>
          <p:nvPr/>
        </p:nvSpPr>
        <p:spPr>
          <a:xfrm>
            <a:off x="0" y="500042"/>
            <a:ext cx="9144000" cy="642942"/>
          </a:xfrm>
          <a:prstGeom prst="flowChartProcess">
            <a:avLst/>
          </a:prstGeom>
          <a:solidFill>
            <a:schemeClr val="accent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714348" y="571480"/>
            <a:ext cx="34290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/>
              <a:t>Perdão</a:t>
            </a:r>
            <a:endParaRPr lang="pt-BR" sz="3200" b="1" dirty="0"/>
          </a:p>
        </p:txBody>
      </p:sp>
      <p:sp>
        <p:nvSpPr>
          <p:cNvPr id="5" name="CaixaDeTexto 4"/>
          <p:cNvSpPr txBox="1"/>
          <p:nvPr/>
        </p:nvSpPr>
        <p:spPr>
          <a:xfrm>
            <a:off x="1285852" y="1714488"/>
            <a:ext cx="70009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/>
              <a:t>Desistir de ressentimento quando prejudicado</a:t>
            </a:r>
            <a:endParaRPr lang="pt-BR" sz="2800" dirty="0"/>
          </a:p>
        </p:txBody>
      </p:sp>
      <p:pic>
        <p:nvPicPr>
          <p:cNvPr id="6" name="Imagem 5" descr="perdã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6000"/>
            <a:ext cx="4572000" cy="4572000"/>
          </a:xfrm>
          <a:prstGeom prst="rect">
            <a:avLst/>
          </a:prstGeom>
        </p:spPr>
      </p:pic>
      <p:sp>
        <p:nvSpPr>
          <p:cNvPr id="7" name="Fluxograma: Processo 6"/>
          <p:cNvSpPr/>
          <p:nvPr/>
        </p:nvSpPr>
        <p:spPr>
          <a:xfrm>
            <a:off x="0" y="500042"/>
            <a:ext cx="9144000" cy="642942"/>
          </a:xfrm>
          <a:prstGeom prst="flowChartProcess">
            <a:avLst/>
          </a:prstGeom>
          <a:solidFill>
            <a:schemeClr val="accent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honestida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52" y="1857364"/>
            <a:ext cx="6285763" cy="4710132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714348" y="571480"/>
            <a:ext cx="34290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/>
              <a:t>Honestidade</a:t>
            </a:r>
            <a:endParaRPr lang="pt-BR" sz="3200" b="1" dirty="0"/>
          </a:p>
        </p:txBody>
      </p:sp>
      <p:sp>
        <p:nvSpPr>
          <p:cNvPr id="5" name="CaixaDeTexto 4"/>
          <p:cNvSpPr txBox="1"/>
          <p:nvPr/>
        </p:nvSpPr>
        <p:spPr>
          <a:xfrm>
            <a:off x="1285852" y="1357298"/>
            <a:ext cx="70009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 smtClean="0"/>
              <a:t>Ser livre de engano</a:t>
            </a:r>
            <a:endParaRPr lang="pt-BR" sz="2800" dirty="0"/>
          </a:p>
        </p:txBody>
      </p:sp>
      <p:sp>
        <p:nvSpPr>
          <p:cNvPr id="7" name="Fluxograma: Processo 6"/>
          <p:cNvSpPr/>
          <p:nvPr/>
        </p:nvSpPr>
        <p:spPr>
          <a:xfrm>
            <a:off x="0" y="500042"/>
            <a:ext cx="9144000" cy="642942"/>
          </a:xfrm>
          <a:prstGeom prst="flowChartProcess">
            <a:avLst/>
          </a:prstGeom>
          <a:solidFill>
            <a:schemeClr val="accent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acor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786" y="1357298"/>
            <a:ext cx="7594600" cy="5105400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714348" y="571480"/>
            <a:ext cx="34290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 smtClean="0"/>
              <a:t>Compromisso</a:t>
            </a:r>
            <a:endParaRPr lang="pt-BR" sz="3200" b="1" dirty="0"/>
          </a:p>
        </p:txBody>
      </p:sp>
      <p:sp>
        <p:nvSpPr>
          <p:cNvPr id="5" name="CaixaDeTexto 4"/>
          <p:cNvSpPr txBox="1"/>
          <p:nvPr/>
        </p:nvSpPr>
        <p:spPr>
          <a:xfrm>
            <a:off x="785786" y="1714488"/>
            <a:ext cx="7715304" cy="523220"/>
          </a:xfrm>
          <a:prstGeom prst="rect">
            <a:avLst/>
          </a:prstGeom>
          <a:solidFill>
            <a:schemeClr val="bg1">
              <a:alpha val="72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2800" dirty="0" smtClean="0"/>
              <a:t>Sustentar suas escolhas</a:t>
            </a:r>
            <a:endParaRPr lang="pt-BR" sz="2800" dirty="0"/>
          </a:p>
        </p:txBody>
      </p:sp>
      <p:sp>
        <p:nvSpPr>
          <p:cNvPr id="7" name="Fluxograma: Processo 6"/>
          <p:cNvSpPr/>
          <p:nvPr/>
        </p:nvSpPr>
        <p:spPr>
          <a:xfrm>
            <a:off x="0" y="500042"/>
            <a:ext cx="9144000" cy="642942"/>
          </a:xfrm>
          <a:prstGeom prst="flowChartProcess">
            <a:avLst/>
          </a:prstGeom>
          <a:solidFill>
            <a:schemeClr val="accent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trela de 6 Pontas 5"/>
          <p:cNvSpPr/>
          <p:nvPr/>
        </p:nvSpPr>
        <p:spPr>
          <a:xfrm>
            <a:off x="2571736" y="1272871"/>
            <a:ext cx="3929090" cy="3393305"/>
          </a:xfrm>
          <a:prstGeom prst="star6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/>
          <p:cNvSpPr txBox="1"/>
          <p:nvPr/>
        </p:nvSpPr>
        <p:spPr>
          <a:xfrm>
            <a:off x="1214414" y="2571744"/>
            <a:ext cx="68580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 smtClean="0"/>
              <a:t>EU SOU O EXEMPLO</a:t>
            </a:r>
            <a:endParaRPr lang="pt-BR" sz="4000" b="1" dirty="0"/>
          </a:p>
        </p:txBody>
      </p:sp>
      <p:sp>
        <p:nvSpPr>
          <p:cNvPr id="5" name="CaixaDeTexto 4"/>
          <p:cNvSpPr txBox="1"/>
          <p:nvPr/>
        </p:nvSpPr>
        <p:spPr>
          <a:xfrm>
            <a:off x="357158" y="4572008"/>
            <a:ext cx="84296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i="1" dirty="0" smtClean="0"/>
              <a:t>“Qualquer um que queira ser um líder entre vocês deve primeiro ser o servidor.</a:t>
            </a:r>
          </a:p>
          <a:p>
            <a:pPr algn="ctr"/>
            <a:r>
              <a:rPr lang="pt-BR" sz="2000" i="1" dirty="0" smtClean="0"/>
              <a:t>Se você opta por liderar, deve primeiro servir.” </a:t>
            </a:r>
          </a:p>
          <a:p>
            <a:pPr algn="ctr"/>
            <a:r>
              <a:rPr lang="pt-BR" sz="2000" dirty="0" smtClean="0"/>
              <a:t>(Jesus Cristo)</a:t>
            </a:r>
            <a:endParaRPr lang="pt-BR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1571604" y="5929330"/>
            <a:ext cx="6000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 smtClean="0">
                <a:solidFill>
                  <a:schemeClr val="bg1"/>
                </a:solidFill>
              </a:rPr>
              <a:t>Essa apresentação foi baseada no livro “O monge e o Executivo “ de James C. Hunter</a:t>
            </a:r>
            <a:endParaRPr lang="pt-BR" sz="1600" dirty="0">
              <a:solidFill>
                <a:schemeClr val="bg1"/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1071538" y="571480"/>
            <a:ext cx="68580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 smtClean="0">
                <a:solidFill>
                  <a:schemeClr val="bg1"/>
                </a:solidFill>
              </a:rPr>
              <a:t>Equipe:</a:t>
            </a:r>
          </a:p>
          <a:p>
            <a:pPr algn="ctr"/>
            <a:endParaRPr lang="pt-BR" sz="1600" dirty="0">
              <a:solidFill>
                <a:schemeClr val="bg1"/>
              </a:solidFill>
            </a:endParaRPr>
          </a:p>
          <a:p>
            <a:pPr algn="ctr"/>
            <a:r>
              <a:rPr lang="pt-BR" sz="1600" dirty="0" err="1" smtClean="0">
                <a:solidFill>
                  <a:schemeClr val="bg1"/>
                </a:solidFill>
              </a:rPr>
              <a:t>Villy</a:t>
            </a:r>
            <a:r>
              <a:rPr lang="pt-BR" sz="1600" dirty="0" smtClean="0">
                <a:solidFill>
                  <a:schemeClr val="bg1"/>
                </a:solidFill>
              </a:rPr>
              <a:t> </a:t>
            </a:r>
            <a:r>
              <a:rPr lang="pt-BR" sz="1600" dirty="0" err="1" smtClean="0">
                <a:solidFill>
                  <a:schemeClr val="bg1"/>
                </a:solidFill>
              </a:rPr>
              <a:t>von</a:t>
            </a:r>
            <a:r>
              <a:rPr lang="pt-BR" sz="1600" dirty="0" smtClean="0">
                <a:solidFill>
                  <a:schemeClr val="bg1"/>
                </a:solidFill>
              </a:rPr>
              <a:t> </a:t>
            </a:r>
            <a:r>
              <a:rPr lang="pt-BR" sz="1600" dirty="0" err="1" smtClean="0">
                <a:solidFill>
                  <a:schemeClr val="bg1"/>
                </a:solidFill>
              </a:rPr>
              <a:t>Rondow</a:t>
            </a:r>
            <a:endParaRPr lang="pt-BR" sz="1600" dirty="0" smtClean="0">
              <a:solidFill>
                <a:schemeClr val="bg1"/>
              </a:solidFill>
            </a:endParaRPr>
          </a:p>
          <a:p>
            <a:pPr algn="ctr"/>
            <a:endParaRPr lang="pt-BR" sz="1600" dirty="0">
              <a:solidFill>
                <a:schemeClr val="bg1"/>
              </a:solidFill>
            </a:endParaRPr>
          </a:p>
          <a:p>
            <a:pPr algn="ctr"/>
            <a:r>
              <a:rPr lang="pt-BR" sz="1600" dirty="0" smtClean="0">
                <a:solidFill>
                  <a:schemeClr val="bg1"/>
                </a:solidFill>
              </a:rPr>
              <a:t>Viviane </a:t>
            </a:r>
            <a:r>
              <a:rPr lang="pt-BR" sz="1600" dirty="0" err="1" smtClean="0">
                <a:solidFill>
                  <a:schemeClr val="bg1"/>
                </a:solidFill>
              </a:rPr>
              <a:t>Lorencetti</a:t>
            </a:r>
            <a:endParaRPr lang="pt-BR" sz="1600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310</Words>
  <Application>Microsoft Office PowerPoint</Application>
  <PresentationFormat>Apresentação na tela (4:3)</PresentationFormat>
  <Paragraphs>57</Paragraphs>
  <Slides>14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5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VRondow</dc:creator>
  <cp:lastModifiedBy>VRondow</cp:lastModifiedBy>
  <cp:revision>38</cp:revision>
  <dcterms:created xsi:type="dcterms:W3CDTF">2009-02-16T20:09:42Z</dcterms:created>
  <dcterms:modified xsi:type="dcterms:W3CDTF">2010-06-12T01:12:02Z</dcterms:modified>
</cp:coreProperties>
</file>